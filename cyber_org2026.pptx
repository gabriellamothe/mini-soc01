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5" r:id="rId3"/>
    <p:sldId id="273" r:id="rId4"/>
    <p:sldId id="274" r:id="rId5"/>
    <p:sldId id="271" r:id="rId6"/>
    <p:sldId id="272" r:id="rId7"/>
    <p:sldId id="257" r:id="rId8"/>
    <p:sldId id="261" r:id="rId9"/>
    <p:sldId id="269" r:id="rId10"/>
    <p:sldId id="270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4"/>
    <p:restoredTop sz="94632"/>
  </p:normalViewPr>
  <p:slideViewPr>
    <p:cSldViewPr snapToGrid="0">
      <p:cViewPr varScale="1">
        <p:scale>
          <a:sx n="194" d="100"/>
          <a:sy n="194" d="100"/>
        </p:scale>
        <p:origin x="208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AD2F06-1953-4C02-B6AA-3F043D3331C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E32B9A-2DBF-4CB7-B0AE-44AE247D89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builds the analyst's actual core skill, which is triage judgment</a:t>
          </a:r>
        </a:p>
      </dgm:t>
    </dgm:pt>
    <dgm:pt modelId="{C2B670FA-546E-4CC2-9C15-4AAA6D4F2E02}" type="parTrans" cxnId="{FA61492C-3194-4D40-AEDD-A4875EBC6A6B}">
      <dgm:prSet/>
      <dgm:spPr/>
      <dgm:t>
        <a:bodyPr/>
        <a:lstStyle/>
        <a:p>
          <a:endParaRPr lang="en-US"/>
        </a:p>
      </dgm:t>
    </dgm:pt>
    <dgm:pt modelId="{0DB28A8B-56F5-47C5-BAE8-082D7E949FA6}" type="sibTrans" cxnId="{FA61492C-3194-4D40-AEDD-A4875EBC6A6B}">
      <dgm:prSet/>
      <dgm:spPr/>
      <dgm:t>
        <a:bodyPr/>
        <a:lstStyle/>
        <a:p>
          <a:endParaRPr lang="en-US"/>
        </a:p>
      </dgm:t>
    </dgm:pt>
    <dgm:pt modelId="{145B4D9B-9AEA-4FE8-9C63-559E0074FB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 calibrates students to the texture of the real job. Real defensive work is mostly false positives, incomplete data, and alert fatigue.</a:t>
          </a:r>
        </a:p>
      </dgm:t>
    </dgm:pt>
    <dgm:pt modelId="{E4D6153C-D9A6-45DB-A404-F3F53E8DA0FD}" type="parTrans" cxnId="{6579ACC1-FE5E-47BA-BBFE-D9ED20CC9412}">
      <dgm:prSet/>
      <dgm:spPr/>
      <dgm:t>
        <a:bodyPr/>
        <a:lstStyle/>
        <a:p>
          <a:endParaRPr lang="en-US"/>
        </a:p>
      </dgm:t>
    </dgm:pt>
    <dgm:pt modelId="{602233F6-96A2-4733-9E8C-8400E966B90E}" type="sibTrans" cxnId="{6579ACC1-FE5E-47BA-BBFE-D9ED20CC9412}">
      <dgm:prSet/>
      <dgm:spPr/>
      <dgm:t>
        <a:bodyPr/>
        <a:lstStyle/>
        <a:p>
          <a:endParaRPr lang="en-US"/>
        </a:p>
      </dgm:t>
    </dgm:pt>
    <dgm:pt modelId="{A4DC1294-C4BD-4AA2-89A8-B3832E843B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forces integration. Students tend to compartmentalize networking, OS internals, and attack methods as separate modules.</a:t>
          </a:r>
        </a:p>
      </dgm:t>
    </dgm:pt>
    <dgm:pt modelId="{95698E02-07C3-4213-B4ED-850D5CE4E90D}" type="parTrans" cxnId="{192D9D00-2475-4F7C-88CA-660F5FD24037}">
      <dgm:prSet/>
      <dgm:spPr/>
      <dgm:t>
        <a:bodyPr/>
        <a:lstStyle/>
        <a:p>
          <a:endParaRPr lang="en-US"/>
        </a:p>
      </dgm:t>
    </dgm:pt>
    <dgm:pt modelId="{F0503AC9-0DB7-4604-BE3C-DCFB201545A7}" type="sibTrans" cxnId="{192D9D00-2475-4F7C-88CA-660F5FD24037}">
      <dgm:prSet/>
      <dgm:spPr/>
      <dgm:t>
        <a:bodyPr/>
        <a:lstStyle/>
        <a:p>
          <a:endParaRPr lang="en-US"/>
        </a:p>
      </dgm:t>
    </dgm:pt>
    <dgm:pt modelId="{5BAE2D1E-D059-48E0-802F-653BAA1FB5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Workforce alignment is the blunt practical argument. The majority of entry-level cyber roles are Tier 1 analyst positions.</a:t>
          </a:r>
        </a:p>
      </dgm:t>
    </dgm:pt>
    <dgm:pt modelId="{BF3EB2A7-168E-4DFF-A10C-8376643766B1}" type="parTrans" cxnId="{AF6A64E4-B55F-4AAF-B04F-D05115988B41}">
      <dgm:prSet/>
      <dgm:spPr/>
      <dgm:t>
        <a:bodyPr/>
        <a:lstStyle/>
        <a:p>
          <a:endParaRPr lang="en-US"/>
        </a:p>
      </dgm:t>
    </dgm:pt>
    <dgm:pt modelId="{04F7D4C5-2F60-410E-ABF0-052990F96C51}" type="sibTrans" cxnId="{AF6A64E4-B55F-4AAF-B04F-D05115988B41}">
      <dgm:prSet/>
      <dgm:spPr/>
      <dgm:t>
        <a:bodyPr/>
        <a:lstStyle/>
        <a:p>
          <a:endParaRPr lang="en-US"/>
        </a:p>
      </dgm:t>
    </dgm:pt>
    <dgm:pt modelId="{6B1F1D08-89CE-41D2-B4E1-AAA24380A8DF}" type="pres">
      <dgm:prSet presAssocID="{4CAD2F06-1953-4C02-B6AA-3F043D3331CA}" presName="root" presStyleCnt="0">
        <dgm:presLayoutVars>
          <dgm:dir/>
          <dgm:resizeHandles val="exact"/>
        </dgm:presLayoutVars>
      </dgm:prSet>
      <dgm:spPr/>
    </dgm:pt>
    <dgm:pt modelId="{4C69A68E-B0BF-443E-96D0-490DAD802203}" type="pres">
      <dgm:prSet presAssocID="{C8E32B9A-2DBF-4CB7-B0AE-44AE247D891E}" presName="compNode" presStyleCnt="0"/>
      <dgm:spPr/>
    </dgm:pt>
    <dgm:pt modelId="{8858CE10-0325-48E9-B226-D294ABDAC312}" type="pres">
      <dgm:prSet presAssocID="{C8E32B9A-2DBF-4CB7-B0AE-44AE247D891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FA6DA7C-C2C9-4ABE-9029-11947694180D}" type="pres">
      <dgm:prSet presAssocID="{C8E32B9A-2DBF-4CB7-B0AE-44AE247D891E}" presName="spaceRect" presStyleCnt="0"/>
      <dgm:spPr/>
    </dgm:pt>
    <dgm:pt modelId="{FEABDA9F-8C99-420E-9DD3-108C9EA4797A}" type="pres">
      <dgm:prSet presAssocID="{C8E32B9A-2DBF-4CB7-B0AE-44AE247D891E}" presName="textRect" presStyleLbl="revTx" presStyleIdx="0" presStyleCnt="4">
        <dgm:presLayoutVars>
          <dgm:chMax val="1"/>
          <dgm:chPref val="1"/>
        </dgm:presLayoutVars>
      </dgm:prSet>
      <dgm:spPr/>
    </dgm:pt>
    <dgm:pt modelId="{8E0933AF-CD3A-466F-985C-D5ED7CD5F1E0}" type="pres">
      <dgm:prSet presAssocID="{0DB28A8B-56F5-47C5-BAE8-082D7E949FA6}" presName="sibTrans" presStyleCnt="0"/>
      <dgm:spPr/>
    </dgm:pt>
    <dgm:pt modelId="{0B181B2E-893F-4017-9904-6DAC552B35A7}" type="pres">
      <dgm:prSet presAssocID="{145B4D9B-9AEA-4FE8-9C63-559E0074FB6B}" presName="compNode" presStyleCnt="0"/>
      <dgm:spPr/>
    </dgm:pt>
    <dgm:pt modelId="{6F7989E5-B05A-41DC-B58A-FBF9B1B50B0D}" type="pres">
      <dgm:prSet presAssocID="{145B4D9B-9AEA-4FE8-9C63-559E0074FB6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fused Face with Solid Fill"/>
        </a:ext>
      </dgm:extLst>
    </dgm:pt>
    <dgm:pt modelId="{04DE4850-3A39-4774-A3FD-933A08A44727}" type="pres">
      <dgm:prSet presAssocID="{145B4D9B-9AEA-4FE8-9C63-559E0074FB6B}" presName="spaceRect" presStyleCnt="0"/>
      <dgm:spPr/>
    </dgm:pt>
    <dgm:pt modelId="{B1604975-A3D2-463D-8D92-D1FDD9B3698E}" type="pres">
      <dgm:prSet presAssocID="{145B4D9B-9AEA-4FE8-9C63-559E0074FB6B}" presName="textRect" presStyleLbl="revTx" presStyleIdx="1" presStyleCnt="4">
        <dgm:presLayoutVars>
          <dgm:chMax val="1"/>
          <dgm:chPref val="1"/>
        </dgm:presLayoutVars>
      </dgm:prSet>
      <dgm:spPr/>
    </dgm:pt>
    <dgm:pt modelId="{6FAC8115-AA10-4D29-ADFF-FFA57768E6BA}" type="pres">
      <dgm:prSet presAssocID="{602233F6-96A2-4733-9E8C-8400E966B90E}" presName="sibTrans" presStyleCnt="0"/>
      <dgm:spPr/>
    </dgm:pt>
    <dgm:pt modelId="{4E0A9878-9F9B-4018-8668-9F8A888C469A}" type="pres">
      <dgm:prSet presAssocID="{A4DC1294-C4BD-4AA2-89A8-B3832E843B7F}" presName="compNode" presStyleCnt="0"/>
      <dgm:spPr/>
    </dgm:pt>
    <dgm:pt modelId="{3F64DF28-7AC3-44F8-AC4E-C2A511FE42D6}" type="pres">
      <dgm:prSet presAssocID="{A4DC1294-C4BD-4AA2-89A8-B3832E843B7F}" presName="iconRect" presStyleLbl="node1" presStyleIdx="2" presStyleCnt="4" custLinFactNeighborX="-2732" custLinFactNeighborY="3414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650C7544-98DA-4C52-AF49-518355084C86}" type="pres">
      <dgm:prSet presAssocID="{A4DC1294-C4BD-4AA2-89A8-B3832E843B7F}" presName="spaceRect" presStyleCnt="0"/>
      <dgm:spPr/>
    </dgm:pt>
    <dgm:pt modelId="{DA020FE1-BD30-4955-B399-B53BAD98F248}" type="pres">
      <dgm:prSet presAssocID="{A4DC1294-C4BD-4AA2-89A8-B3832E843B7F}" presName="textRect" presStyleLbl="revTx" presStyleIdx="2" presStyleCnt="4">
        <dgm:presLayoutVars>
          <dgm:chMax val="1"/>
          <dgm:chPref val="1"/>
        </dgm:presLayoutVars>
      </dgm:prSet>
      <dgm:spPr/>
    </dgm:pt>
    <dgm:pt modelId="{424F7526-BFFA-4EAC-B99E-ED863853BD58}" type="pres">
      <dgm:prSet presAssocID="{F0503AC9-0DB7-4604-BE3C-DCFB201545A7}" presName="sibTrans" presStyleCnt="0"/>
      <dgm:spPr/>
    </dgm:pt>
    <dgm:pt modelId="{679BBC5B-1615-4D1A-9783-5BC96A3AABF8}" type="pres">
      <dgm:prSet presAssocID="{5BAE2D1E-D059-48E0-802F-653BAA1FB580}" presName="compNode" presStyleCnt="0"/>
      <dgm:spPr/>
    </dgm:pt>
    <dgm:pt modelId="{D7B46065-C327-4D9C-BA6F-45DE8DC21057}" type="pres">
      <dgm:prSet presAssocID="{5BAE2D1E-D059-48E0-802F-653BAA1FB580}" presName="iconRect" presStyleLbl="node1" presStyleIdx="3" presStyleCnt="4" custLinFactNeighborX="-2732" custLinFactNeighborY="3687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C275116F-948B-422D-B2F7-DDCDF232FD44}" type="pres">
      <dgm:prSet presAssocID="{5BAE2D1E-D059-48E0-802F-653BAA1FB580}" presName="spaceRect" presStyleCnt="0"/>
      <dgm:spPr/>
    </dgm:pt>
    <dgm:pt modelId="{CEDC7FCB-ED80-433D-8211-2DEED94545B8}" type="pres">
      <dgm:prSet presAssocID="{5BAE2D1E-D059-48E0-802F-653BAA1FB58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92D9D00-2475-4F7C-88CA-660F5FD24037}" srcId="{4CAD2F06-1953-4C02-B6AA-3F043D3331CA}" destId="{A4DC1294-C4BD-4AA2-89A8-B3832E843B7F}" srcOrd="2" destOrd="0" parTransId="{95698E02-07C3-4213-B4ED-850D5CE4E90D}" sibTransId="{F0503AC9-0DB7-4604-BE3C-DCFB201545A7}"/>
    <dgm:cxn modelId="{38D8A907-63AC-429C-855A-153E55F8B449}" type="presOf" srcId="{A4DC1294-C4BD-4AA2-89A8-B3832E843B7F}" destId="{DA020FE1-BD30-4955-B399-B53BAD98F248}" srcOrd="0" destOrd="0" presId="urn:microsoft.com/office/officeart/2018/2/layout/IconLabelList"/>
    <dgm:cxn modelId="{FA61492C-3194-4D40-AEDD-A4875EBC6A6B}" srcId="{4CAD2F06-1953-4C02-B6AA-3F043D3331CA}" destId="{C8E32B9A-2DBF-4CB7-B0AE-44AE247D891E}" srcOrd="0" destOrd="0" parTransId="{C2B670FA-546E-4CC2-9C15-4AAA6D4F2E02}" sibTransId="{0DB28A8B-56F5-47C5-BAE8-082D7E949FA6}"/>
    <dgm:cxn modelId="{F83F4C88-2C26-4D6F-99AC-4D2DCE856796}" type="presOf" srcId="{4CAD2F06-1953-4C02-B6AA-3F043D3331CA}" destId="{6B1F1D08-89CE-41D2-B4E1-AAA24380A8DF}" srcOrd="0" destOrd="0" presId="urn:microsoft.com/office/officeart/2018/2/layout/IconLabelList"/>
    <dgm:cxn modelId="{E51C01A7-E2B0-4259-A4C7-75D40BEFD91A}" type="presOf" srcId="{145B4D9B-9AEA-4FE8-9C63-559E0074FB6B}" destId="{B1604975-A3D2-463D-8D92-D1FDD9B3698E}" srcOrd="0" destOrd="0" presId="urn:microsoft.com/office/officeart/2018/2/layout/IconLabelList"/>
    <dgm:cxn modelId="{C2B82DB5-0AC7-404A-B56A-9A09435D7701}" type="presOf" srcId="{C8E32B9A-2DBF-4CB7-B0AE-44AE247D891E}" destId="{FEABDA9F-8C99-420E-9DD3-108C9EA4797A}" srcOrd="0" destOrd="0" presId="urn:microsoft.com/office/officeart/2018/2/layout/IconLabelList"/>
    <dgm:cxn modelId="{6579ACC1-FE5E-47BA-BBFE-D9ED20CC9412}" srcId="{4CAD2F06-1953-4C02-B6AA-3F043D3331CA}" destId="{145B4D9B-9AEA-4FE8-9C63-559E0074FB6B}" srcOrd="1" destOrd="0" parTransId="{E4D6153C-D9A6-45DB-A404-F3F53E8DA0FD}" sibTransId="{602233F6-96A2-4733-9E8C-8400E966B90E}"/>
    <dgm:cxn modelId="{AF6A64E4-B55F-4AAF-B04F-D05115988B41}" srcId="{4CAD2F06-1953-4C02-B6AA-3F043D3331CA}" destId="{5BAE2D1E-D059-48E0-802F-653BAA1FB580}" srcOrd="3" destOrd="0" parTransId="{BF3EB2A7-168E-4DFF-A10C-8376643766B1}" sibTransId="{04F7D4C5-2F60-410E-ABF0-052990F96C51}"/>
    <dgm:cxn modelId="{66D6FBE4-4E34-450D-83DC-777164ED1705}" type="presOf" srcId="{5BAE2D1E-D059-48E0-802F-653BAA1FB580}" destId="{CEDC7FCB-ED80-433D-8211-2DEED94545B8}" srcOrd="0" destOrd="0" presId="urn:microsoft.com/office/officeart/2018/2/layout/IconLabelList"/>
    <dgm:cxn modelId="{86626847-FF7B-49E5-A9F4-54A33DFE51A1}" type="presParOf" srcId="{6B1F1D08-89CE-41D2-B4E1-AAA24380A8DF}" destId="{4C69A68E-B0BF-443E-96D0-490DAD802203}" srcOrd="0" destOrd="0" presId="urn:microsoft.com/office/officeart/2018/2/layout/IconLabelList"/>
    <dgm:cxn modelId="{B90380E5-EF62-4B51-A2DD-66E44506653F}" type="presParOf" srcId="{4C69A68E-B0BF-443E-96D0-490DAD802203}" destId="{8858CE10-0325-48E9-B226-D294ABDAC312}" srcOrd="0" destOrd="0" presId="urn:microsoft.com/office/officeart/2018/2/layout/IconLabelList"/>
    <dgm:cxn modelId="{D470B6F6-473E-43E1-A585-81C84E27C03F}" type="presParOf" srcId="{4C69A68E-B0BF-443E-96D0-490DAD802203}" destId="{FFA6DA7C-C2C9-4ABE-9029-11947694180D}" srcOrd="1" destOrd="0" presId="urn:microsoft.com/office/officeart/2018/2/layout/IconLabelList"/>
    <dgm:cxn modelId="{1D0E8C14-2334-4143-8682-88312AF5FF06}" type="presParOf" srcId="{4C69A68E-B0BF-443E-96D0-490DAD802203}" destId="{FEABDA9F-8C99-420E-9DD3-108C9EA4797A}" srcOrd="2" destOrd="0" presId="urn:microsoft.com/office/officeart/2018/2/layout/IconLabelList"/>
    <dgm:cxn modelId="{B7A9C9CB-1069-4C83-9B35-C5509732020D}" type="presParOf" srcId="{6B1F1D08-89CE-41D2-B4E1-AAA24380A8DF}" destId="{8E0933AF-CD3A-466F-985C-D5ED7CD5F1E0}" srcOrd="1" destOrd="0" presId="urn:microsoft.com/office/officeart/2018/2/layout/IconLabelList"/>
    <dgm:cxn modelId="{3BF89C52-CFF3-41F5-B7E1-56A13B71FE85}" type="presParOf" srcId="{6B1F1D08-89CE-41D2-B4E1-AAA24380A8DF}" destId="{0B181B2E-893F-4017-9904-6DAC552B35A7}" srcOrd="2" destOrd="0" presId="urn:microsoft.com/office/officeart/2018/2/layout/IconLabelList"/>
    <dgm:cxn modelId="{1001A74E-E249-45F0-8BB9-D5550A2FB65B}" type="presParOf" srcId="{0B181B2E-893F-4017-9904-6DAC552B35A7}" destId="{6F7989E5-B05A-41DC-B58A-FBF9B1B50B0D}" srcOrd="0" destOrd="0" presId="urn:microsoft.com/office/officeart/2018/2/layout/IconLabelList"/>
    <dgm:cxn modelId="{DC677095-4650-4324-8026-EF6B73968B34}" type="presParOf" srcId="{0B181B2E-893F-4017-9904-6DAC552B35A7}" destId="{04DE4850-3A39-4774-A3FD-933A08A44727}" srcOrd="1" destOrd="0" presId="urn:microsoft.com/office/officeart/2018/2/layout/IconLabelList"/>
    <dgm:cxn modelId="{D8D2531F-D627-4120-BF30-7BF0997EAAF9}" type="presParOf" srcId="{0B181B2E-893F-4017-9904-6DAC552B35A7}" destId="{B1604975-A3D2-463D-8D92-D1FDD9B3698E}" srcOrd="2" destOrd="0" presId="urn:microsoft.com/office/officeart/2018/2/layout/IconLabelList"/>
    <dgm:cxn modelId="{653AADC7-5075-4A4B-8C4A-96D0C36D0F13}" type="presParOf" srcId="{6B1F1D08-89CE-41D2-B4E1-AAA24380A8DF}" destId="{6FAC8115-AA10-4D29-ADFF-FFA57768E6BA}" srcOrd="3" destOrd="0" presId="urn:microsoft.com/office/officeart/2018/2/layout/IconLabelList"/>
    <dgm:cxn modelId="{AD21D24F-8F0D-4C0F-952D-4B789C04686F}" type="presParOf" srcId="{6B1F1D08-89CE-41D2-B4E1-AAA24380A8DF}" destId="{4E0A9878-9F9B-4018-8668-9F8A888C469A}" srcOrd="4" destOrd="0" presId="urn:microsoft.com/office/officeart/2018/2/layout/IconLabelList"/>
    <dgm:cxn modelId="{503181D1-304A-497F-B69A-020DB685A0F4}" type="presParOf" srcId="{4E0A9878-9F9B-4018-8668-9F8A888C469A}" destId="{3F64DF28-7AC3-44F8-AC4E-C2A511FE42D6}" srcOrd="0" destOrd="0" presId="urn:microsoft.com/office/officeart/2018/2/layout/IconLabelList"/>
    <dgm:cxn modelId="{EE266239-15E2-423D-BF62-25ECABC4A6F6}" type="presParOf" srcId="{4E0A9878-9F9B-4018-8668-9F8A888C469A}" destId="{650C7544-98DA-4C52-AF49-518355084C86}" srcOrd="1" destOrd="0" presId="urn:microsoft.com/office/officeart/2018/2/layout/IconLabelList"/>
    <dgm:cxn modelId="{5B5DC01F-0F52-4EBD-AF54-5AF0C723FA4C}" type="presParOf" srcId="{4E0A9878-9F9B-4018-8668-9F8A888C469A}" destId="{DA020FE1-BD30-4955-B399-B53BAD98F248}" srcOrd="2" destOrd="0" presId="urn:microsoft.com/office/officeart/2018/2/layout/IconLabelList"/>
    <dgm:cxn modelId="{137B8911-27E3-46CE-B9F2-8131FD24BBF1}" type="presParOf" srcId="{6B1F1D08-89CE-41D2-B4E1-AAA24380A8DF}" destId="{424F7526-BFFA-4EAC-B99E-ED863853BD58}" srcOrd="5" destOrd="0" presId="urn:microsoft.com/office/officeart/2018/2/layout/IconLabelList"/>
    <dgm:cxn modelId="{C00E6FFB-411E-4B05-A95E-CF02428C35BC}" type="presParOf" srcId="{6B1F1D08-89CE-41D2-B4E1-AAA24380A8DF}" destId="{679BBC5B-1615-4D1A-9783-5BC96A3AABF8}" srcOrd="6" destOrd="0" presId="urn:microsoft.com/office/officeart/2018/2/layout/IconLabelList"/>
    <dgm:cxn modelId="{A46262D6-D157-48A2-A330-12DC7CAF9CB4}" type="presParOf" srcId="{679BBC5B-1615-4D1A-9783-5BC96A3AABF8}" destId="{D7B46065-C327-4D9C-BA6F-45DE8DC21057}" srcOrd="0" destOrd="0" presId="urn:microsoft.com/office/officeart/2018/2/layout/IconLabelList"/>
    <dgm:cxn modelId="{70B9CEBB-49FB-49D7-B960-05B009C9260B}" type="presParOf" srcId="{679BBC5B-1615-4D1A-9783-5BC96A3AABF8}" destId="{C275116F-948B-422D-B2F7-DDCDF232FD44}" srcOrd="1" destOrd="0" presId="urn:microsoft.com/office/officeart/2018/2/layout/IconLabelList"/>
    <dgm:cxn modelId="{DFB7F6E1-743D-40E0-A707-BD2081BA587D}" type="presParOf" srcId="{679BBC5B-1615-4D1A-9783-5BC96A3AABF8}" destId="{CEDC7FCB-ED80-433D-8211-2DEED94545B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58CE10-0325-48E9-B226-D294ABDAC312}">
      <dsp:nvSpPr>
        <dsp:cNvPr id="0" name=""/>
        <dsp:cNvSpPr/>
      </dsp:nvSpPr>
      <dsp:spPr>
        <a:xfrm>
          <a:off x="522899" y="102595"/>
          <a:ext cx="698466" cy="6984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BDA9F-8C99-420E-9DD3-108C9EA4797A}">
      <dsp:nvSpPr>
        <dsp:cNvPr id="0" name=""/>
        <dsp:cNvSpPr/>
      </dsp:nvSpPr>
      <dsp:spPr>
        <a:xfrm>
          <a:off x="96059" y="1054430"/>
          <a:ext cx="1552148" cy="737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It builds the analyst's actual core skill, which is triage judgment</a:t>
          </a:r>
        </a:p>
      </dsp:txBody>
      <dsp:txXfrm>
        <a:off x="96059" y="1054430"/>
        <a:ext cx="1552148" cy="737270"/>
      </dsp:txXfrm>
    </dsp:sp>
    <dsp:sp modelId="{6F7989E5-B05A-41DC-B58A-FBF9B1B50B0D}">
      <dsp:nvSpPr>
        <dsp:cNvPr id="0" name=""/>
        <dsp:cNvSpPr/>
      </dsp:nvSpPr>
      <dsp:spPr>
        <a:xfrm>
          <a:off x="2346674" y="102595"/>
          <a:ext cx="698466" cy="6984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604975-A3D2-463D-8D92-D1FDD9B3698E}">
      <dsp:nvSpPr>
        <dsp:cNvPr id="0" name=""/>
        <dsp:cNvSpPr/>
      </dsp:nvSpPr>
      <dsp:spPr>
        <a:xfrm>
          <a:off x="1919833" y="1054430"/>
          <a:ext cx="1552148" cy="737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It calibrates students to the texture of the real job. Real defensive work is mostly false positives, incomplete data, and alert fatigue.</a:t>
          </a:r>
        </a:p>
      </dsp:txBody>
      <dsp:txXfrm>
        <a:off x="1919833" y="1054430"/>
        <a:ext cx="1552148" cy="737270"/>
      </dsp:txXfrm>
    </dsp:sp>
    <dsp:sp modelId="{3F64DF28-7AC3-44F8-AC4E-C2A511FE42D6}">
      <dsp:nvSpPr>
        <dsp:cNvPr id="0" name=""/>
        <dsp:cNvSpPr/>
      </dsp:nvSpPr>
      <dsp:spPr>
        <a:xfrm>
          <a:off x="503817" y="2418230"/>
          <a:ext cx="698466" cy="6984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20FE1-BD30-4955-B399-B53BAD98F248}">
      <dsp:nvSpPr>
        <dsp:cNvPr id="0" name=""/>
        <dsp:cNvSpPr/>
      </dsp:nvSpPr>
      <dsp:spPr>
        <a:xfrm>
          <a:off x="96059" y="3131574"/>
          <a:ext cx="1552148" cy="737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It forces integration. Students tend to compartmentalize networking, OS internals, and attack methods as separate modules.</a:t>
          </a:r>
        </a:p>
      </dsp:txBody>
      <dsp:txXfrm>
        <a:off x="96059" y="3131574"/>
        <a:ext cx="1552148" cy="737270"/>
      </dsp:txXfrm>
    </dsp:sp>
    <dsp:sp modelId="{D7B46065-C327-4D9C-BA6F-45DE8DC21057}">
      <dsp:nvSpPr>
        <dsp:cNvPr id="0" name=""/>
        <dsp:cNvSpPr/>
      </dsp:nvSpPr>
      <dsp:spPr>
        <a:xfrm>
          <a:off x="2327592" y="2437312"/>
          <a:ext cx="698466" cy="6984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DC7FCB-ED80-433D-8211-2DEED94545B8}">
      <dsp:nvSpPr>
        <dsp:cNvPr id="0" name=""/>
        <dsp:cNvSpPr/>
      </dsp:nvSpPr>
      <dsp:spPr>
        <a:xfrm>
          <a:off x="1919833" y="3131574"/>
          <a:ext cx="1552148" cy="737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Workforce alignment is the blunt practical argument. The majority of entry-level cyber roles are Tier 1 analyst positions.</a:t>
          </a:r>
        </a:p>
      </dsp:txBody>
      <dsp:txXfrm>
        <a:off x="1919833" y="3131574"/>
        <a:ext cx="1552148" cy="737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667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3D016-69C9-8FA5-BA2E-1C78ACD88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07392-CD5F-DEB9-D409-8CB043414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5FE0B-1F24-8D5C-1069-FB82EAE84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3E846-AFEE-9438-4196-66CB0F7C51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55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EA688-3543-0B7F-979D-AF0332227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BE87A-B4AD-C511-70E4-D9F64B9F1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F25C8-1659-6019-D737-91C798739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D2316-B691-BF1F-CDD8-CEA65DE045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83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7D6BBA-A5A8-C9D5-2A98-1C7C4BDBF4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r="889"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143000" y="841771"/>
            <a:ext cx="6858000" cy="21753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0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7454" y="3547164"/>
            <a:ext cx="7919320" cy="1596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3200" dirty="0">
                <a:solidFill>
                  <a:srgbClr val="FFFFFF"/>
                </a:solidFill>
              </a:rPr>
              <a:t>from cyber-awareness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3200" dirty="0">
                <a:solidFill>
                  <a:srgbClr val="FFFFFF"/>
                </a:solidFill>
              </a:rPr>
              <a:t>to cyber-operations</a:t>
            </a:r>
          </a:p>
        </p:txBody>
      </p:sp>
      <p:pic>
        <p:nvPicPr>
          <p:cNvPr id="1026" name="Picture 2" descr="CYBER.ORG EdCon 26, Tue, Jun 16th, 2026 @ 7:00 AM Accelevents">
            <a:extLst>
              <a:ext uri="{FF2B5EF4-FFF2-40B4-BE49-F238E27FC236}">
                <a16:creationId xmlns:a16="http://schemas.microsoft.com/office/drawing/2014/main" id="{6363A016-6E4D-535C-F409-DAB1FED1B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261" y="32371"/>
            <a:ext cx="1870739" cy="935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7019F5-26FF-893D-CBCB-03EE7E6CA14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r="889"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C82EDF6-89CD-FBB1-F405-4AF9D91E6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2202" y="875408"/>
            <a:ext cx="498582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Physicis</a:t>
            </a:r>
            <a:r>
              <a:rPr lang="en-US" altLang="en-US" sz="1200" dirty="0">
                <a:latin typeface="Arial" panose="020B0604020202020204" pitchFamily="34" charset="0"/>
              </a:rPr>
              <a:t>t (UPL), Electrical Engineer (UM). Master in Cybersecurity (UOC), in Electrical Engineering (UPV), and in Business Administration (UC3M).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latin typeface="Arial" panose="020B0604020202020204" pitchFamily="34" charset="0"/>
              </a:rPr>
              <a:t> PhD in Engineering (UPV), current PhD Candidate in Information Technology (UOC).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Certified cybersecurity expert, software developer, and educator with 20+ years of professional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Professor of Computer Crime for the school of Criminal Justice at Doral College.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 Computer Science A, AP CSP, Cybersecurity, and Artificial Intelligence professor at Doral Academy Preparatory.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Apple Swift and Python instructor at Miami Dade College; develops in Swift, Python, C/C++, and Solidity.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Former energy-sector leader in Venezuela: directed national power generation at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Corpoelec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led grid planning at the Ministry of Electric Energy (MPPEE).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Professor and former Director, School of Electrical Engineering at Metropolitan University.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Recipient of a 2025 Cyber Educator Award.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latin typeface="Arial" panose="020B0604020202020204" pitchFamily="34" charset="0"/>
              </a:rPr>
              <a:t> Husband, Father of two, Grampa (</a:t>
            </a:r>
            <a:r>
              <a:rPr lang="en-US" altLang="en-US" sz="1200" dirty="0" err="1">
                <a:latin typeface="Arial" panose="020B0604020202020204" pitchFamily="34" charset="0"/>
              </a:rPr>
              <a:t>abuelito</a:t>
            </a:r>
            <a:r>
              <a:rPr lang="en-US" altLang="en-US" sz="1200" dirty="0">
                <a:latin typeface="Arial" panose="020B0604020202020204" pitchFamily="34" charset="0"/>
              </a:rPr>
              <a:t>) of three!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1" name="Picture 3" descr="Imagen del perfil">
            <a:extLst>
              <a:ext uri="{FF2B5EF4-FFF2-40B4-BE49-F238E27FC236}">
                <a16:creationId xmlns:a16="http://schemas.microsoft.com/office/drawing/2014/main" id="{95692023-B6FE-3EEB-CF43-842E92B67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76" y="915488"/>
            <a:ext cx="3827533" cy="3827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YBER.ORG EdCon 26, Tue, Jun 16th, 2026 @ 7:00 AM Accelevents">
            <a:extLst>
              <a:ext uri="{FF2B5EF4-FFF2-40B4-BE49-F238E27FC236}">
                <a16:creationId xmlns:a16="http://schemas.microsoft.com/office/drawing/2014/main" id="{CD1AB127-DB35-B4D6-F99B-9310A3B82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261" y="32371"/>
            <a:ext cx="1870739" cy="935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7128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3436144" cy="5143500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5866C41-DCA6-70D0-2540-2EF8140F8BEE}"/>
              </a:ext>
            </a:extLst>
          </p:cNvPr>
          <p:cNvSpPr txBox="1"/>
          <p:nvPr/>
        </p:nvSpPr>
        <p:spPr>
          <a:xfrm>
            <a:off x="620316" y="1231314"/>
            <a:ext cx="1991915" cy="24099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problem: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8D0575-28F9-4767-C5F4-DE7DEDB34136}"/>
              </a:ext>
            </a:extLst>
          </p:cNvPr>
          <p:cNvSpPr txBox="1"/>
          <p:nvPr/>
        </p:nvSpPr>
        <p:spPr>
          <a:xfrm>
            <a:off x="3924300" y="1291184"/>
            <a:ext cx="4605337" cy="2964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alpha val="80000"/>
                  </a:schemeClr>
                </a:solidFill>
              </a:rPr>
              <a:t>A student can recite the seven stages of the kill chain and still freeze when handed a screen full of Windows Event Logs. SOC-style activities close that gap between </a:t>
            </a:r>
            <a:r>
              <a:rPr lang="en-US" i="1">
                <a:solidFill>
                  <a:schemeClr val="tx1">
                    <a:alpha val="80000"/>
                  </a:schemeClr>
                </a:solidFill>
              </a:rPr>
              <a:t>knowing about</a:t>
            </a:r>
            <a:r>
              <a:rPr lang="en-US">
                <a:solidFill>
                  <a:schemeClr val="tx1">
                    <a:alpha val="80000"/>
                  </a:schemeClr>
                </a:solidFill>
              </a:rPr>
              <a:t> security and </a:t>
            </a:r>
            <a:r>
              <a:rPr lang="en-US" i="1">
                <a:solidFill>
                  <a:schemeClr val="tx1">
                    <a:alpha val="80000"/>
                  </a:schemeClr>
                </a:solidFill>
              </a:rPr>
              <a:t>doing</a:t>
            </a:r>
            <a:r>
              <a:rPr lang="en-US">
                <a:solidFill>
                  <a:schemeClr val="tx1">
                    <a:alpha val="80000"/>
                  </a:schemeClr>
                </a:solidFill>
              </a:rPr>
              <a:t> security.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alpha val="80000"/>
                  </a:schemeClr>
                </a:solidFill>
              </a:rPr>
              <a:t>A real entry-level real-life job-like experience IS A MUST!</a:t>
            </a:r>
          </a:p>
        </p:txBody>
      </p:sp>
      <p:pic>
        <p:nvPicPr>
          <p:cNvPr id="3" name="Picture 2" descr="CYBER.ORG EdCon 26, Tue, Jun 16th, 2026 @ 7:00 AM Accelevents">
            <a:extLst>
              <a:ext uri="{FF2B5EF4-FFF2-40B4-BE49-F238E27FC236}">
                <a16:creationId xmlns:a16="http://schemas.microsoft.com/office/drawing/2014/main" id="{B5FF2C2C-E39B-D391-6CE5-5C86793E8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3679"/>
          <a:stretch>
            <a:fillRect/>
          </a:stretch>
        </p:blipFill>
        <p:spPr bwMode="auto">
          <a:xfrm>
            <a:off x="7833413" y="-2"/>
            <a:ext cx="1310586" cy="63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78220402-2D40-297A-804B-CB30C6E8DF15}"/>
              </a:ext>
            </a:extLst>
          </p:cNvPr>
          <p:cNvSpPr/>
          <p:nvPr/>
        </p:nvSpPr>
        <p:spPr>
          <a:xfrm>
            <a:off x="327454" y="3547164"/>
            <a:ext cx="7919320" cy="1596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3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6485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677B67-94A3-8A28-9909-14970A63F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People sitting at desks with multiple screens&#10;&#10;AI-generated content may be incorrect.">
            <a:extLst>
              <a:ext uri="{FF2B5EF4-FFF2-40B4-BE49-F238E27FC236}">
                <a16:creationId xmlns:a16="http://schemas.microsoft.com/office/drawing/2014/main" id="{D31D1248-9FDD-703E-1E12-522103574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394"/>
          <a:stretch>
            <a:fillRect/>
          </a:stretch>
        </p:blipFill>
        <p:spPr>
          <a:xfrm>
            <a:off x="3954596" y="-2"/>
            <a:ext cx="7436579" cy="514349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51435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522BEA-ECA9-C679-1DB7-82D154AF2590}"/>
              </a:ext>
            </a:extLst>
          </p:cNvPr>
          <p:cNvSpPr txBox="1"/>
          <p:nvPr/>
        </p:nvSpPr>
        <p:spPr>
          <a:xfrm>
            <a:off x="110760" y="112003"/>
            <a:ext cx="3676313" cy="705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>
                <a:latin typeface="+mj-lt"/>
                <a:ea typeface="+mj-ea"/>
                <a:cs typeface="+mj-cs"/>
              </a:rPr>
              <a:t>Why a SOC-like experience?</a:t>
            </a:r>
          </a:p>
        </p:txBody>
      </p:sp>
      <p:pic>
        <p:nvPicPr>
          <p:cNvPr id="3" name="Picture 2" descr="CYBER.ORG EdCon 26, Tue, Jun 16th, 2026 @ 7:00 AM Accelevents">
            <a:extLst>
              <a:ext uri="{FF2B5EF4-FFF2-40B4-BE49-F238E27FC236}">
                <a16:creationId xmlns:a16="http://schemas.microsoft.com/office/drawing/2014/main" id="{3CAF3F83-E658-9DCB-5782-B063FE22D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3679"/>
          <a:stretch>
            <a:fillRect/>
          </a:stretch>
        </p:blipFill>
        <p:spPr bwMode="auto">
          <a:xfrm>
            <a:off x="7833413" y="-2"/>
            <a:ext cx="1310586" cy="63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7" name="TextBox 7">
            <a:extLst>
              <a:ext uri="{FF2B5EF4-FFF2-40B4-BE49-F238E27FC236}">
                <a16:creationId xmlns:a16="http://schemas.microsoft.com/office/drawing/2014/main" id="{E90B16B2-8C0C-B128-CA15-5BE78FB6A5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7275714"/>
              </p:ext>
            </p:extLst>
          </p:nvPr>
        </p:nvGraphicFramePr>
        <p:xfrm>
          <a:off x="219032" y="695916"/>
          <a:ext cx="3568041" cy="3971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47199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BAD809-901C-5BC3-BEF6-AE0FBE4AC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9A05678-AE0A-5BE4-4076-F87DCA078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6ADEBB-50CB-5F3C-8773-A822F70ADCB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r="889"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6FF6374E-9CBD-A662-B531-E67421D574CF}"/>
              </a:ext>
            </a:extLst>
          </p:cNvPr>
          <p:cNvSpPr/>
          <p:nvPr/>
        </p:nvSpPr>
        <p:spPr>
          <a:xfrm>
            <a:off x="1143000" y="841771"/>
            <a:ext cx="6858000" cy="21753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0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CYBER.ORG EdCon 26, Tue, Jun 16th, 2026 @ 7:00 AM Accelevents">
            <a:extLst>
              <a:ext uri="{FF2B5EF4-FFF2-40B4-BE49-F238E27FC236}">
                <a16:creationId xmlns:a16="http://schemas.microsoft.com/office/drawing/2014/main" id="{DE3A717E-E3AA-DCBE-3587-0CECC9893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261" y="32371"/>
            <a:ext cx="1870739" cy="935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8900FB-5D3D-5B40-B2CF-7F024F64B7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371"/>
            <a:ext cx="9147541" cy="507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5893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577F28-089E-4800-277C-E9BC5244C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FD33553-DE41-C1E7-03FE-E4B3ADAF3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BC6261-C8F6-B0F4-1D3E-41464A6D939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r="889"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8E167350-4FB7-5F15-97D4-C069A326A91D}"/>
              </a:ext>
            </a:extLst>
          </p:cNvPr>
          <p:cNvSpPr/>
          <p:nvPr/>
        </p:nvSpPr>
        <p:spPr>
          <a:xfrm>
            <a:off x="1143000" y="841771"/>
            <a:ext cx="6858000" cy="21753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0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CYBER.ORG EdCon 26, Tue, Jun 16th, 2026 @ 7:00 AM Accelevents">
            <a:extLst>
              <a:ext uri="{FF2B5EF4-FFF2-40B4-BE49-F238E27FC236}">
                <a16:creationId xmlns:a16="http://schemas.microsoft.com/office/drawing/2014/main" id="{0BE442DB-C6C5-63A7-3995-4A14D4AC7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261" y="32371"/>
            <a:ext cx="1870739" cy="935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AD7B7A-738B-E046-577B-9E5FBE2681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370"/>
            <a:ext cx="9147533" cy="507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406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DB4EA15-05E1-42A6-5DDF-D8CDC5DF85B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32371"/>
            <a:ext cx="9207944" cy="51435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609600" y="722858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5FF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When?</a:t>
            </a:r>
            <a:endParaRPr lang="en-US" sz="3600" dirty="0"/>
          </a:p>
        </p:txBody>
      </p:sp>
      <p:pic>
        <p:nvPicPr>
          <p:cNvPr id="16" name="Picture 2" descr="CYBER.ORG EdCon 26, Tue, Jun 16th, 2026 @ 7:00 AM Accelevents">
            <a:extLst>
              <a:ext uri="{FF2B5EF4-FFF2-40B4-BE49-F238E27FC236}">
                <a16:creationId xmlns:a16="http://schemas.microsoft.com/office/drawing/2014/main" id="{89EF6679-1FF0-1876-1CB3-9E2B62C0C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261" y="32371"/>
            <a:ext cx="1870739" cy="935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A8F290-1929-51A4-488C-3AA06DECEC9A}"/>
              </a:ext>
            </a:extLst>
          </p:cNvPr>
          <p:cNvSpPr txBox="1"/>
          <p:nvPr/>
        </p:nvSpPr>
        <p:spPr>
          <a:xfrm>
            <a:off x="477431" y="1640527"/>
            <a:ext cx="85532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The governing principle: SOC analysis is anomaly detection, and anomaly detection is impossible without a baseline of normal.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94C771-C4D4-3323-D19D-092A89EA568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9207944" cy="51435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62324" y="85712"/>
            <a:ext cx="8083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800" b="1" dirty="0">
                <a:solidFill>
                  <a:srgbClr val="E5FF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Example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98722" y="1097341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B7D9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following example covers an alert triage operation that mirrors entry-level SOC workflow.</a:t>
            </a:r>
            <a:endParaRPr lang="en-US" sz="1500" dirty="0"/>
          </a:p>
        </p:txBody>
      </p:sp>
      <p:pic>
        <p:nvPicPr>
          <p:cNvPr id="2" name="Picture 2" descr="CYBER.ORG EdCon 26, Tue, Jun 16th, 2026 @ 7:00 AM Accelevents">
            <a:extLst>
              <a:ext uri="{FF2B5EF4-FFF2-40B4-BE49-F238E27FC236}">
                <a16:creationId xmlns:a16="http://schemas.microsoft.com/office/drawing/2014/main" id="{202BECB3-BC39-1CE4-883D-F4EF8F674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261" y="32371"/>
            <a:ext cx="1870739" cy="935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B41026-D6C4-7D5A-AEF2-0AE6C7762F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4135" y="1444626"/>
            <a:ext cx="2819674" cy="26015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7536C5-62D2-CF18-F265-E584D7ACEC1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9207944" cy="51435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320040" y="1000112"/>
            <a:ext cx="83591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000" b="1" dirty="0">
                <a:solidFill>
                  <a:srgbClr val="E5FF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 safe real-world SOC skills </a:t>
            </a:r>
            <a:br>
              <a:rPr lang="en-US" sz="4000" b="1" dirty="0">
                <a:solidFill>
                  <a:srgbClr val="E5FF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</a:br>
            <a:r>
              <a:rPr lang="en-US" sz="4000" b="1" dirty="0">
                <a:solidFill>
                  <a:srgbClr val="E5FF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just curriculum 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1572" y="3540313"/>
            <a:ext cx="7924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>
                <a:solidFill>
                  <a:srgbClr val="B7D9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classroom’s Mini-SOC works when students monitor, analyze, document, and respond inside a protected environment that mirrors professional practice without exposing real school systems.</a:t>
            </a:r>
            <a:endParaRPr lang="en-US" sz="1500"/>
          </a:p>
        </p:txBody>
      </p:sp>
      <p:pic>
        <p:nvPicPr>
          <p:cNvPr id="2" name="Picture 2" descr="CYBER.ORG EdCon 26, Tue, Jun 16th, 2026 @ 7:00 AM Accelevents">
            <a:extLst>
              <a:ext uri="{FF2B5EF4-FFF2-40B4-BE49-F238E27FC236}">
                <a16:creationId xmlns:a16="http://schemas.microsoft.com/office/drawing/2014/main" id="{0825E69B-6BB1-49A7-62E3-68BF76130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261" y="32371"/>
            <a:ext cx="1870739" cy="935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90CBC2-72B0-3860-B0FE-03897CD6D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" y="-8062"/>
            <a:ext cx="9129713" cy="515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908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403</Words>
  <Application>Microsoft Macintosh PowerPoint</Application>
  <PresentationFormat>On-screen Show (16:9)</PresentationFormat>
  <Paragraphs>33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Inter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Jose Del Valle</cp:lastModifiedBy>
  <cp:revision>4</cp:revision>
  <dcterms:created xsi:type="dcterms:W3CDTF">2026-04-10T15:29:10Z</dcterms:created>
  <dcterms:modified xsi:type="dcterms:W3CDTF">2026-06-17T17:29:01Z</dcterms:modified>
</cp:coreProperties>
</file>